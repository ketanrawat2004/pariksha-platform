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Pariksha · FAR AWAY Hackathon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B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{slide_num} / 14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3152"/>
            <a:ext cx="12191695" cy="36576"/>
          </a:xfrm>
          <a:prstGeom prst="rect">
            <a:avLst/>
          </a:prstGeom>
          <a:solidFill>
            <a:srgbClr val="0F1B3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Pariksha · परीक्षा · Every mark, earned.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{slide_num} / 14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pariksha-platform.lovable.app/login" TargetMode="External"/><Relationship Id="rId1" Type="http://schemas.openxmlformats.org/officeDocument/2006/relationships/image" Target="../media/image-12-1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pariksha-platform.lovable.app" TargetMode="External"/><Relationship Id="rId2" Type="http://schemas.openxmlformats.org/officeDocument/2006/relationships/hyperlink" Target="https://pariksha-platform.lovable.app" TargetMode="Externa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pariksha-platform.lovable.app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E11D48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4114800"/>
            <a:ext cx="4572000" cy="4572000"/>
          </a:xfrm>
          <a:prstGeom prst="ellipse">
            <a:avLst/>
          </a:prstGeom>
          <a:solidFill>
            <a:srgbClr val="1E3A8A">
              <a:alpha val="40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63040" y="59436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Pariksha · परीक्षा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463040" y="9601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F5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 HACKATHON · 2026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48640" y="2103120"/>
            <a:ext cx="109728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-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exams,
</a:t>
            </a:r>
            <a:pPr indent="0" marL="0">
              <a:buNone/>
            </a:pPr>
            <a:r>
              <a:rPr lang="en-US" sz="7200" b="1" spc="-2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re-earned.</a:t>
            </a:r>
            <a:endParaRPr lang="en-US" sz="7200" dirty="0"/>
          </a:p>
        </p:txBody>
      </p:sp>
      <p:sp>
        <p:nvSpPr>
          <p:cNvPr id="8" name="Text 5"/>
          <p:cNvSpPr/>
          <p:nvPr/>
        </p:nvSpPr>
        <p:spPr>
          <a:xfrm>
            <a:off x="548640" y="448056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cryptographic anti-leak engine, biometric continuous auth, and live integrity monitoring — built for a billion candidates.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48640" y="5532120"/>
            <a:ext cx="6858000" cy="777240"/>
          </a:xfrm>
          <a:prstGeom prst="roundRect">
            <a:avLst>
              <a:gd name="adj" fmla="val 11765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13232" y="5687568"/>
            <a:ext cx="457200" cy="457200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56875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325880" y="56235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Ketan Rawat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325880" y="5897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Final-year B.Tech ECE · NIT Jamshedpur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PROBLEM STATEMENT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is losing trust in its examinations.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2024–26 alone, multiple national exams were derailed by paper leaks, proxy candidates, and operational failures. Every headline robs the most deserving students of a fair shot.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53949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606040"/>
            <a:ext cx="73152" cy="100584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697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NEET-UG 2026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297180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Kota syndicate leak forced second-shift re-test for 42,000 candidates.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2606040"/>
            <a:ext cx="53949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2606040"/>
            <a:ext cx="73152" cy="100584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2697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NEET-UG 2024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297180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1,563 candidates re-tested after Hazaribagh leak — millions affected.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53949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749040"/>
            <a:ext cx="73152" cy="100584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840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CGL 2024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" y="411480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Tier-1 postponed multiple times; CBI investigations ongoing.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17920" y="3749040"/>
            <a:ext cx="53949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17920" y="3749040"/>
            <a:ext cx="73152" cy="100584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19" name="Text 17"/>
          <p:cNvSpPr/>
          <p:nvPr/>
        </p:nvSpPr>
        <p:spPr>
          <a:xfrm>
            <a:off x="6446520" y="3840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BPSC 2024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46520" y="411480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Patna centre re-exam after paper circulated on Telegram pre-start.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892040"/>
            <a:ext cx="53949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4892040"/>
            <a:ext cx="73152" cy="100584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4983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RPF Constable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77240" y="525780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70,000+ posts impacted by proxy-candidate rings across 4 states.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4892040"/>
            <a:ext cx="53949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0" y="4892040"/>
            <a:ext cx="73152" cy="100584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27" name="Text 25"/>
          <p:cNvSpPr/>
          <p:nvPr/>
        </p:nvSpPr>
        <p:spPr>
          <a:xfrm>
            <a:off x="6446520" y="4983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UPPSC PCS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46520" y="525780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Re-exam ordered; protests by 5 lakh+ candidates.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8640" y="5989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root cause is not bad people — it is bad architecture.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5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pillars. One trust contract.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Cryptography, biometrics and live monitoring — woven into one system.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3611880" cy="3566160"/>
          </a:xfrm>
          <a:prstGeom prst="roundRect">
            <a:avLst>
              <a:gd name="adj" fmla="val 3846"/>
            </a:avLst>
          </a:prstGeom>
          <a:solidFill>
            <a:srgbClr val="152347"/>
          </a:solidFill>
          <a:ln w="12700">
            <a:solidFill>
              <a:srgbClr val="2A3D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697480"/>
            <a:ext cx="777240" cy="777240"/>
          </a:xfrm>
          <a:prstGeom prst="roundRect">
            <a:avLst>
              <a:gd name="adj" fmla="val 14118"/>
            </a:avLst>
          </a:prstGeom>
          <a:solidFill>
            <a:srgbClr val="E11D48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6974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FFFFF"/>
                </a:solidFill>
              </a:rPr>
              <a:t>🔒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22960" y="36118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Cryptographic Vault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4114800"/>
            <a:ext cx="31089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sealing + AES-256-GCM + Shamir 3-of-3 across regions. Paper literally cannot be read before T-0 — by mathematics, not policy.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2468880"/>
            <a:ext cx="3611880" cy="3566160"/>
          </a:xfrm>
          <a:prstGeom prst="roundRect">
            <a:avLst>
              <a:gd name="adj" fmla="val 3846"/>
            </a:avLst>
          </a:prstGeom>
          <a:solidFill>
            <a:srgbClr val="152347"/>
          </a:solidFill>
          <a:ln w="12700">
            <a:solidFill>
              <a:srgbClr val="2A3D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17720" y="2697480"/>
            <a:ext cx="777240" cy="777240"/>
          </a:xfrm>
          <a:prstGeom prst="roundRect">
            <a:avLst>
              <a:gd name="adj" fmla="val 14118"/>
            </a:avLst>
          </a:prstGeom>
          <a:solidFill>
            <a:srgbClr val="E11D48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26974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FFFFF"/>
                </a:solidFill>
              </a:rPr>
              <a:t>👁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617720" y="36118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Biometric Continuous Auth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617720" y="4114800"/>
            <a:ext cx="31089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face-api.js re-verifies the candidate every 5 minutes inside the lockdown browser. Proxies caught live, not after results.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38160" y="2468880"/>
            <a:ext cx="3611880" cy="3566160"/>
          </a:xfrm>
          <a:prstGeom prst="roundRect">
            <a:avLst>
              <a:gd name="adj" fmla="val 3846"/>
            </a:avLst>
          </a:prstGeom>
          <a:solidFill>
            <a:srgbClr val="152347"/>
          </a:solidFill>
          <a:ln w="12700">
            <a:solidFill>
              <a:srgbClr val="2A3D6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697480"/>
            <a:ext cx="777240" cy="777240"/>
          </a:xfrm>
          <a:prstGeom prst="roundRect">
            <a:avLst>
              <a:gd name="adj" fmla="val 14118"/>
            </a:avLst>
          </a:prstGeom>
          <a:solidFill>
            <a:srgbClr val="E11D48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6974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FFFFF"/>
                </a:solidFill>
              </a:rPr>
              <a:t>🛡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8412480" y="36118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Integrity Watch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412480" y="4114800"/>
            <a:ext cx="31089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Tab-switch, copy, devtools, behavioural anomalies feed a per-candidate score. Invigilators see one live wall — one click to intervene.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KEY FEATURES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role consoles. One source of truth.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6118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05740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0F1B3D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57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Admit cards, lockdown browser, score &amp; certificate downloads.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6118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0" y="205740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0F1B3D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057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303520" y="212140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Invigilator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wall of every session · one-click intervention · incident log.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38160" y="1828800"/>
            <a:ext cx="36118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66760" y="205740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0F1B3D"/>
          </a:solidFill>
          <a:ln/>
        </p:spPr>
      </p:sp>
      <p:sp>
        <p:nvSpPr>
          <p:cNvPr id="16" name="Text 14"/>
          <p:cNvSpPr/>
          <p:nvPr/>
        </p:nvSpPr>
        <p:spPr>
          <a:xfrm>
            <a:off x="8366760" y="2057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098280" y="212140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6676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papers into TriShield Vault · self-onboard centres.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114800"/>
            <a:ext cx="36118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434340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0F1B3D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343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508760" y="440740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77240" y="5166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exams, centres, candidates, integrity reports, payments.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343400" y="4114800"/>
            <a:ext cx="36118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0" y="434340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0F1B3D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0" y="4343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303520" y="440740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Superadmin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572000" y="5166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log, TriShield reports, paper-leak detector, system health.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138160" y="4114800"/>
            <a:ext cx="36118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66760" y="434340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0F1B3D"/>
          </a:solidFill>
          <a:ln/>
        </p:spPr>
      </p:sp>
      <p:sp>
        <p:nvSpPr>
          <p:cNvPr id="31" name="Text 29"/>
          <p:cNvSpPr/>
          <p:nvPr/>
        </p:nvSpPr>
        <p:spPr>
          <a:xfrm>
            <a:off x="8366760" y="4343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098280" y="440740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8366760" y="5166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TriShield Vault story, system status, signed result verification.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PRODUCT TOUR · LANDING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"Every mark, earned."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homepage — live counters, hero CTA, trust badges, candidate-facing entry points.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2240280"/>
            <a:ext cx="9966960" cy="4069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097280" y="2240280"/>
            <a:ext cx="9966960" cy="4069080"/>
          </a:xfrm>
          <a:prstGeom prst="rect">
            <a:avLst/>
          </a:prstGeom>
          <a:ln w="12700">
            <a:solidFill>
              <a:srgbClr val="0F1B3D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5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THE ANTI-LEAK ENGINE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TriShield Vault — 3 layers of cryptography.</a:t>
            </a:r>
            <a:endParaRPr lang="en-US" sz="3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85800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691640"/>
            <a:ext cx="6858000" cy="4297680"/>
          </a:xfrm>
          <a:prstGeom prst="rect">
            <a:avLst/>
          </a:prstGeom>
          <a:ln w="15875">
            <a:solidFill>
              <a:srgbClr val="E11D4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80960" y="1828800"/>
            <a:ext cx="4114800" cy="914400"/>
          </a:xfrm>
          <a:prstGeom prst="roundRect">
            <a:avLst>
              <a:gd name="adj" fmla="val 10000"/>
            </a:avLst>
          </a:prstGeom>
          <a:solidFill>
            <a:srgbClr val="152347"/>
          </a:solidFill>
          <a:ln w="12700">
            <a:solidFill>
              <a:srgbClr val="2A3D6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818120" y="2057400"/>
            <a:ext cx="457200" cy="457200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8" name="Text 5"/>
          <p:cNvSpPr/>
          <p:nvPr/>
        </p:nvSpPr>
        <p:spPr>
          <a:xfrm>
            <a:off x="781812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412480" y="19202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Sealed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412480" y="22402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digest published before exam day.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680960" y="2880360"/>
            <a:ext cx="4114800" cy="914400"/>
          </a:xfrm>
          <a:prstGeom prst="roundRect">
            <a:avLst>
              <a:gd name="adj" fmla="val 10000"/>
            </a:avLst>
          </a:prstGeom>
          <a:solidFill>
            <a:srgbClr val="152347"/>
          </a:solidFill>
          <a:ln w="12700">
            <a:solidFill>
              <a:srgbClr val="2A3D6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818120" y="3108960"/>
            <a:ext cx="457200" cy="457200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13" name="Text 10"/>
          <p:cNvSpPr/>
          <p:nvPr/>
        </p:nvSpPr>
        <p:spPr>
          <a:xfrm>
            <a:off x="7818120" y="3108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412480" y="2971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AES-256-GCM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412480" y="32918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at rest &amp; in flight.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680960" y="3931920"/>
            <a:ext cx="4114800" cy="914400"/>
          </a:xfrm>
          <a:prstGeom prst="roundRect">
            <a:avLst>
              <a:gd name="adj" fmla="val 10000"/>
            </a:avLst>
          </a:prstGeom>
          <a:solidFill>
            <a:srgbClr val="152347"/>
          </a:solidFill>
          <a:ln w="12700">
            <a:solidFill>
              <a:srgbClr val="2A3D6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18120" y="4160520"/>
            <a:ext cx="457200" cy="457200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18" name="Text 15"/>
          <p:cNvSpPr/>
          <p:nvPr/>
        </p:nvSpPr>
        <p:spPr>
          <a:xfrm>
            <a:off x="7818120" y="4160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412480" y="40233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Shamir 3-of-3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412480" y="4343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Decryptable only after T-0 by region quorum.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680960" y="4983480"/>
            <a:ext cx="4114800" cy="914400"/>
          </a:xfrm>
          <a:prstGeom prst="roundRect">
            <a:avLst>
              <a:gd name="adj" fmla="val 10000"/>
            </a:avLst>
          </a:prstGeom>
          <a:solidFill>
            <a:srgbClr val="152347"/>
          </a:solidFill>
          <a:ln w="12700">
            <a:solidFill>
              <a:srgbClr val="2A3D6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818120" y="5212080"/>
            <a:ext cx="457200" cy="457200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23" name="Text 20"/>
          <p:cNvSpPr/>
          <p:nvPr/>
        </p:nvSpPr>
        <p:spPr>
          <a:xfrm>
            <a:off x="7818120" y="5212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8412480" y="5074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Ed25519 Results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412480" y="539496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result sheets · publicly auditable.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ORIGIN STORY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original concept — built by a student.</a:t>
            </a:r>
            <a:endParaRPr lang="en-US" sz="3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40080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691640"/>
            <a:ext cx="6400800" cy="4297680"/>
          </a:xfrm>
          <a:prstGeom prst="rect">
            <a:avLst/>
          </a:prstGeom>
          <a:ln w="12700">
            <a:solidFill>
              <a:srgbClr val="0F1B3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23760" y="1691640"/>
            <a:ext cx="457200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06640" y="187452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exists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406640" y="2286000"/>
            <a:ext cx="42976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Conceived end-to-end as a student response to the 2024 paper-leak crisis. Not a clone of any existing platform — built in 2026 for the FAR AWAY Hackathon.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406640" y="365760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406640" y="393192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Ketan Rawat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406640" y="429768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Final-year B.Tech ECE · NIT Jamshedpur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406640" y="48463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2.4M+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7406640" y="5349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823960" y="48463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99.97%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8823960" y="5349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Uptime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241280" y="48463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10241280" y="5349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5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TECH STACK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Modern, auditable, production-grade.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440680" cy="1188720"/>
          </a:xfrm>
          <a:prstGeom prst="roundRect">
            <a:avLst>
              <a:gd name="adj" fmla="val 7692"/>
            </a:avLst>
          </a:prstGeom>
          <a:solidFill>
            <a:srgbClr val="152347"/>
          </a:solidFill>
          <a:ln w="12700">
            <a:solidFill>
              <a:srgbClr val="2A3D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828800"/>
            <a:ext cx="73152" cy="118872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9339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2331720"/>
            <a:ext cx="5074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· TanStack Start (SSR) · Vite 7 · Tailwind v4 · shadcn/ui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828800"/>
            <a:ext cx="5440680" cy="1188720"/>
          </a:xfrm>
          <a:prstGeom prst="roundRect">
            <a:avLst>
              <a:gd name="adj" fmla="val 7692"/>
            </a:avLst>
          </a:prstGeom>
          <a:solidFill>
            <a:srgbClr val="152347"/>
          </a:solidFill>
          <a:ln w="12700">
            <a:solidFill>
              <a:srgbClr val="2A3D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0" y="1828800"/>
            <a:ext cx="73152" cy="118872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10" name="Text 8"/>
          <p:cNvSpPr/>
          <p:nvPr/>
        </p:nvSpPr>
        <p:spPr>
          <a:xfrm>
            <a:off x="6492240" y="199339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0" y="2331720"/>
            <a:ext cx="5074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Lovable Cloud (Supabase) · Postgres + RLS · Auth · Storage · Realtime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200400"/>
            <a:ext cx="5440680" cy="1188720"/>
          </a:xfrm>
          <a:prstGeom prst="roundRect">
            <a:avLst>
              <a:gd name="adj" fmla="val 7692"/>
            </a:avLst>
          </a:prstGeom>
          <a:solidFill>
            <a:srgbClr val="152347"/>
          </a:solidFill>
          <a:ln w="12700">
            <a:solidFill>
              <a:srgbClr val="2A3D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200400"/>
            <a:ext cx="73152" cy="118872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36499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VISION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3703320"/>
            <a:ext cx="5074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face-api.js (TinyFaceDetector · Landmark68 · Recognition) · TF.js COCO-SSD · Gemini confirm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200400"/>
            <a:ext cx="5440680" cy="1188720"/>
          </a:xfrm>
          <a:prstGeom prst="roundRect">
            <a:avLst>
              <a:gd name="adj" fmla="val 7692"/>
            </a:avLst>
          </a:prstGeom>
          <a:solidFill>
            <a:srgbClr val="152347"/>
          </a:solidFill>
          <a:ln w="12700">
            <a:solidFill>
              <a:srgbClr val="2A3D6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0" y="3200400"/>
            <a:ext cx="73152" cy="118872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0" y="336499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92240" y="3703320"/>
            <a:ext cx="5074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Crypto API · SHA-256 hashes · AES-256-GCM · Ed25519 signatures · Shamir secret sharing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572000"/>
            <a:ext cx="5440680" cy="1188720"/>
          </a:xfrm>
          <a:prstGeom prst="roundRect">
            <a:avLst>
              <a:gd name="adj" fmla="val 7692"/>
            </a:avLst>
          </a:prstGeom>
          <a:solidFill>
            <a:srgbClr val="152347"/>
          </a:solidFill>
          <a:ln w="12700">
            <a:solidFill>
              <a:srgbClr val="2A3D6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4572000"/>
            <a:ext cx="73152" cy="118872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473659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22960" y="5074920"/>
            <a:ext cx="5074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5-role RBAC · RLS on every table · Zod server-side · rate limiting · audit log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17920" y="4572000"/>
            <a:ext cx="5440680" cy="1188720"/>
          </a:xfrm>
          <a:prstGeom prst="roundRect">
            <a:avLst>
              <a:gd name="adj" fmla="val 7692"/>
            </a:avLst>
          </a:prstGeom>
          <a:solidFill>
            <a:srgbClr val="152347"/>
          </a:solidFill>
          <a:ln w="12700">
            <a:solidFill>
              <a:srgbClr val="2A3D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17920" y="4572000"/>
            <a:ext cx="73152" cy="118872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26" name="Text 24"/>
          <p:cNvSpPr/>
          <p:nvPr/>
        </p:nvSpPr>
        <p:spPr>
          <a:xfrm>
            <a:off x="6492240" y="473659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QR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92240" y="5074920"/>
            <a:ext cx="5074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jsPDF + qrcode — admit cards, certificates, score &amp; activity reports w/ verification QR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Edge-served. Stateless. Horizontally autoscaling.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828800"/>
            <a:ext cx="2011680" cy="1234440"/>
          </a:xfrm>
          <a:prstGeom prst="roundRect">
            <a:avLst>
              <a:gd name="adj" fmla="val 7407"/>
            </a:avLst>
          </a:prstGeom>
          <a:solidFill>
            <a:srgbClr val="0F1B3D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2860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834640" y="219456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React 19 SSR pages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760720" y="219456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Lockdown browser + face-api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0" y="219456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Web Crypto · client encryption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24612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3246120"/>
            <a:ext cx="2011680" cy="1234440"/>
          </a:xfrm>
          <a:prstGeom prst="roundRect">
            <a:avLst>
              <a:gd name="adj" fmla="val 7407"/>
            </a:avLst>
          </a:prstGeom>
          <a:solidFill>
            <a:srgbClr val="E11D48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7033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/ GATEWAY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834640" y="361188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Cloudflare Workers SSR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760720" y="361188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TanStack server-fns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686800" y="361188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Rate limit · auth middleware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66344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663440"/>
            <a:ext cx="2011680" cy="1234440"/>
          </a:xfrm>
          <a:prstGeom prst="roundRect">
            <a:avLst>
              <a:gd name="adj" fmla="val 7407"/>
            </a:avLst>
          </a:prstGeom>
          <a:solidFill>
            <a:srgbClr val="14532D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1206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/ TRUST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834640" y="50292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Postgres + RLS (5 roles)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760720" y="50292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TriShield Vault · Shamir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686800" y="50292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Audit log · Ed25519 signer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62636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1M+ concurrent candidates · 10K RPS sustained · &lt;120ms p95 · 200+ centres in parallel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SECURITY POSTURE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down at every layer.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61188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011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🔐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77240" y="26974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 on every public table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310896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table ships without policy. Default-deny model.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1828800"/>
            <a:ext cx="361188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2011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🪪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572000" y="26974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5-role RBAC + has_role()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0" y="310896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DEFINER prevents recursion attacks.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38160" y="1828800"/>
            <a:ext cx="361188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66760" y="2011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366760" y="26974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Zod input validators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66760" y="310896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server fn validates payload before touching DB.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361188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206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🛑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77240" y="48920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Rate-limited mutations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77240" y="530352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per-IP buckets; 5/hr support, etc.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43400" y="4023360"/>
            <a:ext cx="361188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0" y="4206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🪝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4572000" y="48920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 signature verify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0" y="530352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HMAC-SHA256 timing-safe compare on all callbacks.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38160" y="4023360"/>
            <a:ext cx="361188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66760" y="4206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📜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8366760" y="48920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audit log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66760" y="530352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privileged action recorded for forensic review.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OBSERVABILITY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system status — real measurements, no theatre.</a:t>
            </a:r>
            <a:endParaRPr lang="en-US" sz="3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783080"/>
            <a:ext cx="996696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97280" y="1783080"/>
            <a:ext cx="9966960" cy="4297680"/>
          </a:xfrm>
          <a:prstGeom prst="rect">
            <a:avLst/>
          </a:prstGeom>
          <a:ln w="12700">
            <a:solidFill>
              <a:srgbClr val="0F1B3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90-day uptime · 24h p95/p50 latency · admin-curated incident history.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5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ONE-CLICK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role consoles · one click in.</a:t>
            </a:r>
            <a:endParaRPr lang="en-US" sz="3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777240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783080"/>
            <a:ext cx="7772400" cy="4297680"/>
          </a:xfrm>
          <a:prstGeom prst="rect">
            <a:avLst/>
          </a:prstGeom>
          <a:ln w="15875">
            <a:solidFill>
              <a:srgbClr val="E11D4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595360" y="1783080"/>
            <a:ext cx="3200400" cy="4297680"/>
          </a:xfrm>
          <a:prstGeom prst="roundRect">
            <a:avLst>
              <a:gd name="adj" fmla="val 3429"/>
            </a:avLst>
          </a:prstGeom>
          <a:solidFill>
            <a:srgbClr val="152347"/>
          </a:solidFill>
          <a:ln w="12700">
            <a:solidFill>
              <a:srgbClr val="2A3D6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778240" y="19202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now</a:t>
            </a:r>
            <a:endParaRPr lang="en-US" sz="1600" dirty="0"/>
          </a:p>
        </p:txBody>
      </p:sp>
      <p:sp>
        <p:nvSpPr>
          <p:cNvPr id="8" name="Text 5">
            <a:hlinkClick r:id="rId2" tooltip=""/>
          </p:cNvPr>
          <p:cNvSpPr/>
          <p:nvPr/>
        </p:nvSpPr>
        <p:spPr>
          <a:xfrm>
            <a:off x="8778240" y="22860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pariksha-platform.lovable.app/login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8778240" y="2834640"/>
            <a:ext cx="2834640" cy="411480"/>
          </a:xfrm>
          <a:prstGeom prst="roundRect">
            <a:avLst>
              <a:gd name="adj" fmla="val 13333"/>
            </a:avLst>
          </a:prstGeom>
          <a:solidFill>
            <a:srgbClr val="1F3263"/>
          </a:solidFill>
          <a:ln/>
        </p:spPr>
      </p:sp>
      <p:sp>
        <p:nvSpPr>
          <p:cNvPr id="10" name="Text 7"/>
          <p:cNvSpPr/>
          <p:nvPr/>
        </p:nvSpPr>
        <p:spPr>
          <a:xfrm>
            <a:off x="8915400" y="283464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Superadmin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1155680" y="2834640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11D48"/>
                </a:solidFill>
              </a:rPr>
              <a:t>▶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778240" y="3337560"/>
            <a:ext cx="2834640" cy="411480"/>
          </a:xfrm>
          <a:prstGeom prst="roundRect">
            <a:avLst>
              <a:gd name="adj" fmla="val 13333"/>
            </a:avLst>
          </a:prstGeom>
          <a:solidFill>
            <a:srgbClr val="1F3263"/>
          </a:solidFill>
          <a:ln/>
        </p:spPr>
      </p:sp>
      <p:sp>
        <p:nvSpPr>
          <p:cNvPr id="13" name="Text 10"/>
          <p:cNvSpPr/>
          <p:nvPr/>
        </p:nvSpPr>
        <p:spPr>
          <a:xfrm>
            <a:off x="8915400" y="333756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1155680" y="3337560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11D48"/>
                </a:solidFill>
              </a:rPr>
              <a:t>▶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778240" y="3840480"/>
            <a:ext cx="2834640" cy="411480"/>
          </a:xfrm>
          <a:prstGeom prst="roundRect">
            <a:avLst>
              <a:gd name="adj" fmla="val 13333"/>
            </a:avLst>
          </a:prstGeom>
          <a:solidFill>
            <a:srgbClr val="1F3263"/>
          </a:solidFill>
          <a:ln/>
        </p:spPr>
      </p:sp>
      <p:sp>
        <p:nvSpPr>
          <p:cNvPr id="16" name="Text 13"/>
          <p:cNvSpPr/>
          <p:nvPr/>
        </p:nvSpPr>
        <p:spPr>
          <a:xfrm>
            <a:off x="8915400" y="38404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Invigilator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1155680" y="3840480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11D48"/>
                </a:solidFill>
              </a:rPr>
              <a:t>▶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778240" y="4343400"/>
            <a:ext cx="2834640" cy="411480"/>
          </a:xfrm>
          <a:prstGeom prst="roundRect">
            <a:avLst>
              <a:gd name="adj" fmla="val 13333"/>
            </a:avLst>
          </a:prstGeom>
          <a:solidFill>
            <a:srgbClr val="1F3263"/>
          </a:solidFill>
          <a:ln/>
        </p:spPr>
      </p:sp>
      <p:sp>
        <p:nvSpPr>
          <p:cNvPr id="19" name="Text 16"/>
          <p:cNvSpPr/>
          <p:nvPr/>
        </p:nvSpPr>
        <p:spPr>
          <a:xfrm>
            <a:off x="8915400" y="43434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1155680" y="4343400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11D48"/>
                </a:solidFill>
              </a:rPr>
              <a:t>▶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8778240" y="4846320"/>
            <a:ext cx="2834640" cy="411480"/>
          </a:xfrm>
          <a:prstGeom prst="roundRect">
            <a:avLst>
              <a:gd name="adj" fmla="val 13333"/>
            </a:avLst>
          </a:prstGeom>
          <a:solidFill>
            <a:srgbClr val="1F3263"/>
          </a:solidFill>
          <a:ln/>
        </p:spPr>
      </p:sp>
      <p:sp>
        <p:nvSpPr>
          <p:cNvPr id="22" name="Text 19"/>
          <p:cNvSpPr/>
          <p:nvPr/>
        </p:nvSpPr>
        <p:spPr>
          <a:xfrm>
            <a:off x="8915400" y="48463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1155680" y="4846320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11D48"/>
                </a:solidFill>
              </a:rPr>
              <a:t>▶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8778240" y="54864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· Demo@1234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5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LIVE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run end-to-end.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645920" y="1920240"/>
            <a:ext cx="8869680" cy="4206240"/>
          </a:xfrm>
          <a:prstGeom prst="roundRect">
            <a:avLst>
              <a:gd name="adj" fmla="val 3261"/>
            </a:avLst>
          </a:prstGeom>
          <a:solidFill>
            <a:srgbClr val="0A1227"/>
          </a:solidFill>
          <a:ln w="19050">
            <a:solidFill>
              <a:srgbClr val="E11D4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0" y="3108960"/>
            <a:ext cx="2194560" cy="2194560"/>
          </a:xfrm>
          <a:prstGeom prst="ellipse">
            <a:avLst/>
          </a:prstGeom>
          <a:solidFill>
            <a:srgbClr val="E11D48">
              <a:alpha val="70000"/>
            </a:srgbClr>
          </a:solidFill>
          <a:ln/>
        </p:spPr>
      </p:sp>
      <p:sp>
        <p:nvSpPr>
          <p:cNvPr id="6" name="Shape 4">
            <a:hlinkClick r:id="rId1" tooltip="Open live site"/>
          </p:cNvPr>
          <p:cNvSpPr/>
          <p:nvPr/>
        </p:nvSpPr>
        <p:spPr>
          <a:xfrm>
            <a:off x="5532120" y="3611880"/>
            <a:ext cx="1188720" cy="11887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5532120" y="361188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11D48"/>
                </a:solidFill>
              </a:rPr>
              <a:t>▶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45920" y="5074920"/>
            <a:ext cx="8869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45920" y="544068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play button to open the live site · embed the recorded walkthrough here before presenting.</a:t>
            </a:r>
            <a:endParaRPr lang="en-US" sz="1200" dirty="0"/>
          </a:p>
        </p:txBody>
      </p:sp>
      <p:sp>
        <p:nvSpPr>
          <p:cNvPr id="10" name="Text 8">
            <a:hlinkClick r:id="rId2" tooltip=""/>
          </p:cNvPr>
          <p:cNvSpPr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u="sng" dirty="0">
                <a:solidFill>
                  <a:srgbClr val="F5C46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pariksha-platform.lovable.app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· FUTURE SCOPE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platform of national consequence.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44068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1031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🆔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737360" y="20574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Aadhaar e-KYC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737360" y="256032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One-shot government identity at registration.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828800"/>
            <a:ext cx="544068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21031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⛓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7406640" y="20574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anchors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406640" y="256032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result-hash anchoring on a national ledger.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474720"/>
            <a:ext cx="544068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7490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📹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1737360" y="37033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WebRTC video walls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737360" y="420624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invigilator multi-stream consoles.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3474720"/>
            <a:ext cx="544068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37490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📊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7406640" y="37033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IRT scoring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406640" y="420624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item-response theory · fairer norming.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21208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0F1B3D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53492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mark, earned.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731520" y="5897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· Ketan Rawat · ketan@pariksha.in</a:t>
            </a:r>
            <a:endParaRPr lang="en-US" sz="1300" dirty="0"/>
          </a:p>
        </p:txBody>
      </p:sp>
      <p:sp>
        <p:nvSpPr>
          <p:cNvPr id="23" name="Shape 21">
            <a:hlinkClick r:id="rId1" tooltip=""/>
          </p:cNvPr>
          <p:cNvSpPr/>
          <p:nvPr/>
        </p:nvSpPr>
        <p:spPr>
          <a:xfrm>
            <a:off x="8503920" y="5532120"/>
            <a:ext cx="2926080" cy="731520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/>
        </p:spPr>
      </p:sp>
      <p:sp>
        <p:nvSpPr>
          <p:cNvPr id="24" name="Text 22"/>
          <p:cNvSpPr/>
          <p:nvPr/>
        </p:nvSpPr>
        <p:spPr>
          <a:xfrm>
            <a:off x="8503920" y="55321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 the live site →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FAR AWAY Hackathon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Pariksha — Every mark, earned</dc:title>
  <dc:subject>PptxGenJS Presentation</dc:subject>
  <dc:creator>Ketan Rawat · NIT Jamshedpur</dc:creator>
  <cp:lastModifiedBy>Ketan Rawat · NIT Jamshedpur</cp:lastModifiedBy>
  <cp:revision>1</cp:revision>
  <dcterms:created xsi:type="dcterms:W3CDTF">2026-06-12T06:38:25Z</dcterms:created>
  <dcterms:modified xsi:type="dcterms:W3CDTF">2026-06-12T06:38:25Z</dcterms:modified>
</cp:coreProperties>
</file>